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游戏智能 NPC 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9900"/>
                </a:solidFill>
                <a:latin typeface="Calibri"/>
              </a:defRPr>
            </a:pPr>
            <a:r>
              <a:t>基于 Amazon Bedrock &amp; AgentCore 的 AI 驱动动态任务系统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657600"/>
            <a:ext cx="2743200" cy="25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4585D"/>
                </a:solidFill>
                <a:latin typeface="Calibri"/>
              </a:defRPr>
            </a:pPr>
            <a:r>
              <a:t>Amazon Web Services  |  解决方案详细介绍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32F3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3716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389888"/>
            <a:ext cx="438912" cy="43891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2F3E"/>
                </a:solidFill>
                <a:latin typeface="Calibri"/>
              </a:defRPr>
            </a:pPr>
            <a:r>
              <a:t>客户痛点与应用场景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传统 NPC 的局限与 AI 智能 NPC 的价值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12848"/>
            <a:ext cx="438912" cy="43891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94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2F3E"/>
                </a:solidFill>
                <a:latin typeface="Calibri"/>
              </a:defRPr>
            </a:pPr>
            <a:r>
              <a:t>AWS 核心产品介绍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14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Amazon Bedrock &amp; AgentCore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035808"/>
            <a:ext cx="438912" cy="43891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17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2F3E"/>
                </a:solidFill>
                <a:latin typeface="Calibri"/>
              </a:defRPr>
            </a:pPr>
            <a:r>
              <a:t>方案技术架构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337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整体架构、AI 模块架构、行为日志时序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58768"/>
            <a:ext cx="438912" cy="43891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40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2F3E"/>
                </a:solidFill>
                <a:latin typeface="Calibri"/>
              </a:defRPr>
            </a:pPr>
            <a:r>
              <a:t>Demo 演示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智能 NPC 实机演示视频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681728"/>
            <a:ext cx="438912" cy="43891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2F3E"/>
                </a:solidFill>
                <a:latin typeface="Calibri"/>
              </a:defRPr>
            </a:pPr>
            <a:r>
              <a:t>价格分析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983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AgentCore &amp; Bedrock 按月成本估算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504688"/>
            <a:ext cx="438912" cy="43891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486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2F3E"/>
                </a:solidFill>
                <a:latin typeface="Calibri"/>
              </a:defRPr>
            </a:pPr>
            <a:r>
              <a:t>方案总结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806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方案优势对比与正式生产架构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99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客户痛点与应用场景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4585D"/>
                </a:solidFill>
                <a:latin typeface="Calibri"/>
              </a:defRPr>
            </a:pPr>
            <a:r>
              <a:t>传统 NPC 的局限与 AI 智能 NPC 的价值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286000" cy="25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32F3E"/>
                </a:solidFill>
                <a:latin typeface="Calibri"/>
              </a:defRPr>
            </a:pPr>
            <a:r>
              <a:t>客户痛点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3716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120640" cy="484632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Calibri"/>
              </a:defRPr>
            </a:pPr>
            <a:r>
              <a:t>传统 NPC 实现方式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914400" cy="25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400" b="0">
                <a:solidFill>
                  <a:srgbClr val="54585D"/>
                </a:solidFill>
                <a:latin typeface="Calibri"/>
              </a:defRPr>
            </a:pPr>
            <a:r>
              <a:t>✖  NPC 对话基于固定脚本，缺乏变化和沉浸感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54585D"/>
                </a:solidFill>
                <a:latin typeface="Calibri"/>
              </a:defRPr>
            </a:pPr>
            <a:r>
              <a:t>✖  任务由策划团队手动录入，开发周期长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54585D"/>
                </a:solidFill>
                <a:latin typeface="Calibri"/>
              </a:defRPr>
            </a:pPr>
            <a:r>
              <a:t>✖  玩家行为无法影响 NPC 反应，体验千篇一律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54585D"/>
                </a:solidFill>
                <a:latin typeface="Calibri"/>
              </a:defRPr>
            </a:pPr>
            <a:r>
              <a:t>✖  内容更新需要发版，无法动态调整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54585D"/>
                </a:solidFill>
                <a:latin typeface="Calibri"/>
              </a:defRPr>
            </a:pPr>
            <a:r>
              <a:t>✖  策划人力成本高，难以规模化生成内容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9900"/>
                </a:solidFill>
                <a:latin typeface="Calibri"/>
              </a:defRPr>
            </a:pPr>
            <a:r>
              <a:t>❯❯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120640" cy="48463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6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660F"/>
                </a:solidFill>
                <a:latin typeface="Calibri"/>
              </a:defRPr>
            </a:pPr>
            <a:r>
              <a:t>AI 智能 NPC 解决方案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914400" cy="2540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400" b="0">
                <a:solidFill>
                  <a:srgbClr val="1B660F"/>
                </a:solidFill>
                <a:latin typeface="Calibri"/>
              </a:defRPr>
            </a:pPr>
            <a:r>
              <a:t>✔  NPC 对话由大语言模型动态生成，自然且个性化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1B660F"/>
                </a:solidFill>
                <a:latin typeface="Calibri"/>
              </a:defRPr>
            </a:pPr>
            <a:r>
              <a:t>✔  任务根据玩家行为自动生成，无需策划手动设计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1B660F"/>
                </a:solidFill>
                <a:latin typeface="Calibri"/>
              </a:defRPr>
            </a:pPr>
            <a:r>
              <a:t>✔  基于玩家行为日志分析，NPC 动态调整任务方向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1B660F"/>
                </a:solidFill>
                <a:latin typeface="Calibri"/>
              </a:defRPr>
            </a:pPr>
            <a:r>
              <a:t>✔  实时更新，无需发版即可优化 NPC 行为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1B660F"/>
                </a:solidFill>
                <a:latin typeface="Calibri"/>
              </a:defRPr>
            </a:pPr>
            <a:r>
              <a:t>✔  显著降低策划人力成本，提高内容生成效率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32F3E"/>
                </a:solidFill>
                <a:latin typeface="Calibri"/>
              </a:defRPr>
            </a:pPr>
            <a:r>
              <a:t>应用场景 —— 核心场景流程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3716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4585D"/>
                </a:solidFill>
                <a:latin typeface="Calibri"/>
              </a:defRPr>
            </a:pPr>
            <a:r>
              <a:t>玩家在场景中与怪物战斗、与 NPC 对话并接取 AI 动态生成的任务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2377440" cy="5029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玩家进入场景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9019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057400"/>
            <a:ext cx="2377440" cy="50292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0574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键盘操控角色移动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5877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1" name="Diamond 10"/>
          <p:cNvSpPr/>
          <p:nvPr/>
        </p:nvSpPr>
        <p:spPr>
          <a:xfrm>
            <a:off x="4846320" y="2743200"/>
            <a:ext cx="2194560" cy="1005840"/>
          </a:xfrm>
          <a:prstGeom prst="diamond">
            <a:avLst/>
          </a:prstGeom>
          <a:solidFill>
            <a:srgbClr val="545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88036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遭遇对象?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26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C0000"/>
                </a:solidFill>
                <a:latin typeface="Calibri"/>
              </a:defRPr>
            </a:pPr>
            <a:r>
              <a:t>←  怪物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926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BB"/>
                </a:solidFill>
                <a:latin typeface="Calibri"/>
              </a:defRPr>
            </a:pPr>
            <a:r>
              <a:t>NPC 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926080"/>
            <a:ext cx="2011680" cy="5029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自动进入战斗</a:t>
            </a:r>
          </a:p>
        </p:txBody>
      </p:sp>
      <p:sp>
        <p:nvSpPr>
          <p:cNvPr id="17" name="Diamond 16"/>
          <p:cNvSpPr/>
          <p:nvPr/>
        </p:nvSpPr>
        <p:spPr>
          <a:xfrm>
            <a:off x="1005840" y="3749039"/>
            <a:ext cx="1828800" cy="822960"/>
          </a:xfrm>
          <a:prstGeom prst="diamond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886199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战斗结果?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3977639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660F"/>
                </a:solidFill>
                <a:latin typeface="Calibri"/>
              </a:defRPr>
            </a:pPr>
            <a:r>
              <a:t>胜利 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4754880"/>
            <a:ext cx="1645920" cy="731520"/>
          </a:xfrm>
          <a:prstGeom prst="round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754880"/>
            <a:ext cx="1645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战斗结算</a:t>
            </a:r>
            <a:br/>
            <a:r>
              <a:t>经验/金币/掉落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977639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90000"/>
                </a:solidFill>
                <a:latin typeface="Calibri"/>
              </a:defRPr>
            </a:pPr>
            <a:r>
              <a:t>失败 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4754880"/>
            <a:ext cx="1645920" cy="731520"/>
          </a:xfrm>
          <a:prstGeom prst="round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4754880"/>
            <a:ext cx="1645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回到出生点</a:t>
            </a:r>
            <a:br/>
            <a:r>
              <a:t>恢复满血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926080"/>
            <a:ext cx="2286000" cy="50292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292608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触发 NPC 对话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3749039"/>
            <a:ext cx="2926080" cy="1097280"/>
          </a:xfrm>
          <a:prstGeom prst="roundRect">
            <a:avLst/>
          </a:prstGeom>
          <a:solidFill>
            <a:srgbClr val="FDF0D5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C7E11"/>
                </a:solidFill>
                <a:latin typeface="Calibri"/>
              </a:defRPr>
            </a:pPr>
            <a:r>
              <a:t>✨ AI 核心能力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114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4585D"/>
                </a:solidFill>
                <a:latin typeface="Calibri"/>
              </a:defRPr>
            </a:pPr>
            <a:r>
              <a:t>NPC Agent 分析玩家行为日志</a:t>
            </a:r>
            <a:br/>
            <a:r>
              <a:t>动态生成个性化任务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120640"/>
            <a:ext cx="2286000" cy="502920"/>
          </a:xfrm>
          <a:prstGeom prst="round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512064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玩家接取任务</a:t>
            </a:r>
          </a:p>
        </p:txBody>
      </p:sp>
      <p:sp>
        <p:nvSpPr>
          <p:cNvPr id="32" name="Diamond 31"/>
          <p:cNvSpPr/>
          <p:nvPr/>
        </p:nvSpPr>
        <p:spPr>
          <a:xfrm>
            <a:off x="4846320" y="5486400"/>
            <a:ext cx="2194560" cy="914400"/>
          </a:xfrm>
          <a:prstGeom prst="diamond">
            <a:avLst/>
          </a:prstGeom>
          <a:solidFill>
            <a:srgbClr val="545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562356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任务条件满足?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5669280"/>
            <a:ext cx="1828800" cy="502920"/>
          </a:xfrm>
          <a:prstGeom prst="round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566928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完成 → 领取奖励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99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AWS 核心产品介绍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4585D"/>
                </a:solidFill>
                <a:latin typeface="Calibri"/>
              </a:defRPr>
            </a:pPr>
            <a:r>
              <a:t>Amazon Bedrock &amp; AgentCore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286000" cy="25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32F3E"/>
                </a:solidFill>
                <a:latin typeface="Calibri"/>
              </a:defRPr>
            </a:pPr>
            <a:r>
              <a:t>Amazon Bedrock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3716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4585D"/>
                </a:solidFill>
                <a:latin typeface="Calibri"/>
              </a:defRPr>
            </a:pPr>
            <a:r>
              <a:t>全托管的生成式 AI 服务，提供来自领先 AI 公司的高性能基础模型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560320" cy="2011680"/>
          </a:xfrm>
          <a:prstGeom prst="roundRect">
            <a:avLst/>
          </a:prstGeom>
          <a:solidFill>
            <a:srgbClr val="E1F0FA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3BB"/>
                </a:solidFill>
                <a:latin typeface="Calibri"/>
              </a:defRPr>
            </a:pPr>
            <a:r>
              <a:t>多模型选择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提供 Claude、Llama 等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多家顶级模型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按需选择最佳模型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554480"/>
            <a:ext cx="2560320" cy="2011680"/>
          </a:xfrm>
          <a:prstGeom prst="roundRect">
            <a:avLst/>
          </a:prstGeom>
          <a:solidFill>
            <a:srgbClr val="E1F0FA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3BB"/>
                </a:solidFill>
                <a:latin typeface="Calibri"/>
              </a:defRPr>
            </a:pPr>
            <a:r>
              <a:t>Converse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0574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统一对话接口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简化多模型集成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支持 Tool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560320" cy="2011680"/>
          </a:xfrm>
          <a:prstGeom prst="roundRect">
            <a:avLst/>
          </a:prstGeom>
          <a:solidFill>
            <a:srgbClr val="E1F0FA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3BB"/>
                </a:solidFill>
                <a:latin typeface="Calibri"/>
              </a:defRPr>
            </a:pPr>
            <a:r>
              <a:t>安全合规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0574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数据不用于模型训练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VPC 私有端点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SOC / ISO 合规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560320" cy="2011680"/>
          </a:xfrm>
          <a:prstGeom prst="roundRect">
            <a:avLst/>
          </a:prstGeom>
          <a:solidFill>
            <a:srgbClr val="E1F0FA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3BB"/>
                </a:solidFill>
                <a:latin typeface="Calibri"/>
              </a:defRPr>
            </a:pPr>
            <a:r>
              <a:t>按量计费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按 Token 计费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无最低消费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成本可预测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0972800" cy="2468880"/>
          </a:xfrm>
          <a:prstGeom prst="roundRect">
            <a:avLst/>
          </a:prstGeom>
          <a:solidFill>
            <a:srgbClr val="FDF0D5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7E11"/>
                </a:solidFill>
                <a:latin typeface="Calibri"/>
              </a:defRPr>
            </a:pPr>
            <a:r>
              <a:t>本方案使用的模型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914400" cy="25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Claude 3.5 Haiku  (us.anthropic.claude-3-5-haiku-20241022-v1:0)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54585D"/>
                </a:solidFill>
                <a:latin typeface="Calibri"/>
              </a:defRPr>
            </a:pPr>
            <a:r>
              <a:t>•  Anthropic 最新轻量级模型，推理速度极快、成本极低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54585D"/>
                </a:solidFill>
                <a:latin typeface="Calibri"/>
              </a:defRPr>
            </a:pPr>
            <a:r>
              <a:t>•  非常适合游戏场景中的实时 NPC 对话和任务生成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54585D"/>
                </a:solidFill>
                <a:latin typeface="Calibri"/>
              </a:defRPr>
            </a:pPr>
            <a:r>
              <a:t>•  单次调用延迟约 3.5 秒，满足游戏交互的实时性要求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54585D"/>
                </a:solidFill>
                <a:latin typeface="Calibri"/>
              </a:defRPr>
            </a:pPr>
            <a:r>
              <a:t>•  200K Token 上下文窗口，可注入丰富的游戏数据作为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32F3E"/>
                </a:solidFill>
                <a:latin typeface="Calibri"/>
              </a:defRPr>
            </a:pPr>
            <a:r>
              <a:t>Amazon Bedrock AgentCore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3716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4585D"/>
                </a:solidFill>
                <a:latin typeface="Calibri"/>
              </a:defRPr>
            </a:pPr>
            <a:r>
              <a:t>全托管的 AI Agent 部署与运行服务，支持自定义 Agent 容器化部署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560320" cy="2011680"/>
          </a:xfrm>
          <a:prstGeom prst="roundRect">
            <a:avLst/>
          </a:prstGeom>
          <a:solidFill>
            <a:srgbClr val="E1F0FA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3BB"/>
                </a:solidFill>
                <a:latin typeface="Calibri"/>
              </a:defRPr>
            </a:pPr>
            <a:r>
              <a:t>容器化部署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支持自定义 Docker 镜像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灵活部署任意框架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ARM64 架构支持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554480"/>
            <a:ext cx="2560320" cy="2011680"/>
          </a:xfrm>
          <a:prstGeom prst="roundRect">
            <a:avLst/>
          </a:prstGeom>
          <a:solidFill>
            <a:srgbClr val="E1F0FA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3BB"/>
                </a:solidFill>
                <a:latin typeface="Calibri"/>
              </a:defRPr>
            </a:pPr>
            <a:r>
              <a:t>VPC 私有模式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0574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Agent 运行在客户 VPC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数据不出网络边界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私有子网隔离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560320" cy="2011680"/>
          </a:xfrm>
          <a:prstGeom prst="roundRect">
            <a:avLst/>
          </a:prstGeom>
          <a:solidFill>
            <a:srgbClr val="E1F0FA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3BB"/>
                </a:solidFill>
                <a:latin typeface="Calibri"/>
              </a:defRPr>
            </a:pPr>
            <a:r>
              <a:t>弹性扩缩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0574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按请求量自动扩缩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无需管理基础设施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高可用架构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560320" cy="2011680"/>
          </a:xfrm>
          <a:prstGeom prst="roundRect">
            <a:avLst/>
          </a:prstGeom>
          <a:solidFill>
            <a:srgbClr val="E1F0FA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3BB"/>
                </a:solidFill>
                <a:latin typeface="Calibri"/>
              </a:defRPr>
            </a:pPr>
            <a:r>
              <a:t>Runtime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标准化 API 端点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简化调用集成</a:t>
            </a:r>
          </a:p>
          <a:p>
            <a:pPr algn="ctr">
              <a:spcAft>
                <a:spcPts val="3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内置监控日志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0972800" cy="2468880"/>
          </a:xfrm>
          <a:prstGeom prst="roundRect">
            <a:avLst/>
          </a:prstGeom>
          <a:solidFill>
            <a:srgbClr val="FDF0D5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7E11"/>
                </a:solidFill>
                <a:latin typeface="Calibri"/>
              </a:defRPr>
            </a:pPr>
            <a:r>
              <a:t>本方案中的使用方式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914400" cy="25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54585D"/>
                </a:solidFill>
                <a:latin typeface="Calibri"/>
              </a:defRPr>
            </a:pPr>
            <a:r>
              <a:t>•  NPC Agent 以 Docker 容器形式部署到 AgentCore Runtime (ARM64)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54585D"/>
                </a:solidFill>
                <a:latin typeface="Calibri"/>
              </a:defRPr>
            </a:pPr>
            <a:r>
              <a:t>•  Agent 运行在 VPC 私有子网，通过 NAT Gateway 访问 Bedrock 和 DynamoDB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54585D"/>
                </a:solidFill>
                <a:latin typeface="Calibri"/>
              </a:defRPr>
            </a:pPr>
            <a:r>
              <a:t>•  游戏服务器通过 InvokeAgentRuntime API 调用 NPC Agent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54585D"/>
                </a:solidFill>
                <a:latin typeface="Calibri"/>
              </a:defRPr>
            </a:pPr>
            <a:r>
              <a:t>•  Agent 预获取 6 张 DynamoDB 表数据，单次调用 Bedrock Converse API 完成推理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99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方案技术架构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4585D"/>
                </a:solidFill>
                <a:latin typeface="Calibri"/>
              </a:defRPr>
            </a:pPr>
            <a:r>
              <a:t>整体架构、AI 模块架构、行为日志时序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286000" cy="25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32F3E"/>
                </a:solidFill>
                <a:latin typeface="Calibri"/>
              </a:defRPr>
            </a:pPr>
            <a:r>
              <a:t>整体架构 (High Level)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3716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4585D"/>
                </a:solidFill>
                <a:latin typeface="Calibri"/>
              </a:defRPr>
            </a:pPr>
            <a:r>
              <a:t>详细架构图请参见 architecture.drawio — Page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017520"/>
            <a:ext cx="1371600" cy="64008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01752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开发者终端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063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SSM 端口转发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4114800" cy="4572000"/>
          </a:xfrm>
          <a:prstGeom prst="roundRect">
            <a:avLst/>
          </a:prstGeom>
          <a:noFill/>
          <a:ln w="254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417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BB"/>
                </a:solidFill>
                <a:latin typeface="Calibri"/>
              </a:defRPr>
            </a:pPr>
            <a:r>
              <a:t>AWS VPC  —  私有子网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828800"/>
            <a:ext cx="3749039" cy="3840480"/>
          </a:xfrm>
          <a:prstGeom prst="roundRect">
            <a:avLst/>
          </a:prstGeom>
          <a:solidFill>
            <a:srgbClr val="E1F0FA"/>
          </a:solidFill>
          <a:ln w="127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87451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BB"/>
                </a:solidFill>
                <a:latin typeface="Calibri"/>
              </a:defRPr>
            </a:pPr>
            <a:r>
              <a:t>Amazon EC2 (Node.js + Express)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Express.static  —  前端静态资源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REST API / WebSocket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BattleSystem  —  战斗系统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TaskManager  —  任务奖励结算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EventEmitter  —  事件发射器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FDF0D5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417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7E11"/>
                </a:solidFill>
                <a:latin typeface="Calibri"/>
              </a:defRPr>
            </a:pPr>
            <a:r>
              <a:t>AI 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8288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AgentCore Runtime (VPC 私有模式)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NPC Agent (Docker 容器)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Bedrock Converse API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Claude 3.5 Haiku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C7E11"/>
                </a:solidFill>
                <a:latin typeface="Calibri"/>
              </a:defRPr>
            </a:pPr>
            <a:r>
              <a:t>NPC 对话请求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89120"/>
            <a:ext cx="4114800" cy="1554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6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4434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660F"/>
                </a:solidFill>
                <a:latin typeface="Calibri"/>
              </a:defRPr>
            </a:pPr>
            <a:r>
              <a:t>Amazon DynamoDB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846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Players  |  Monsters  |  NPCs  |  Items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Tasks  |  PlayerEventSummary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660F"/>
                </a:solidFill>
                <a:latin typeface="Calibri"/>
              </a:defRPr>
            </a:pPr>
            <a:r>
              <a:t>← 读写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32F3E"/>
                </a:solidFill>
                <a:latin typeface="Calibri"/>
              </a:defRPr>
            </a:pPr>
            <a:r>
              <a:t>AI 模块架构 — NPC Agent 内部流程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3716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4585D"/>
                </a:solidFill>
                <a:latin typeface="Calibri"/>
              </a:defRPr>
            </a:pPr>
            <a:r>
              <a:t>详细架构图请参见 architecture.drawio — Page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371600"/>
            <a:ext cx="17373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737360" cy="54864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3BB"/>
                </a:solidFill>
                <a:latin typeface="Calibri"/>
              </a:defRPr>
            </a:pPr>
            <a:r>
              <a:t>1. 数据预获取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585D"/>
                </a:solidFill>
                <a:latin typeface="Calibri"/>
              </a:defRPr>
            </a:pPr>
            <a:r>
              <a:t>并行读取 6 张</a:t>
            </a:r>
            <a:br/>
            <a:r>
              <a:t>DynamoDB 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1371600"/>
            <a:ext cx="17373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5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0" y="1371600"/>
            <a:ext cx="1737360" cy="54864"/>
          </a:xfrm>
          <a:prstGeom prst="rect">
            <a:avLst/>
          </a:prstGeom>
          <a:solidFill>
            <a:srgbClr val="545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463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4585D"/>
                </a:solidFill>
                <a:latin typeface="Calibri"/>
              </a:defRPr>
            </a:pPr>
            <a:r>
              <a:t>2. Prompt 组装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87451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585D"/>
                </a:solidFill>
                <a:latin typeface="Calibri"/>
              </a:defRPr>
            </a:pPr>
            <a:r>
              <a:t>精简数据 +</a:t>
            </a:r>
            <a:br/>
            <a:r>
              <a:t>System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371600"/>
            <a:ext cx="17373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371600"/>
            <a:ext cx="173736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463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900"/>
                </a:solidFill>
                <a:latin typeface="Calibri"/>
              </a:defRPr>
            </a:pPr>
            <a:r>
              <a:t>3. LLM 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187451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585D"/>
                </a:solidFill>
                <a:latin typeface="Calibri"/>
              </a:defRPr>
            </a:pPr>
            <a:r>
              <a:t>单次 Bedrock</a:t>
            </a:r>
            <a:br/>
            <a:r>
              <a:t>Converse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1371600"/>
            <a:ext cx="17373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5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79" y="1371600"/>
            <a:ext cx="1737360" cy="54864"/>
          </a:xfrm>
          <a:prstGeom prst="rect">
            <a:avLst/>
          </a:prstGeom>
          <a:solidFill>
            <a:srgbClr val="545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19" y="1463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4585D"/>
                </a:solidFill>
                <a:latin typeface="Calibri"/>
              </a:defRPr>
            </a:pPr>
            <a:r>
              <a:t>4. JSON 解析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19" y="187451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585D"/>
                </a:solidFill>
                <a:latin typeface="Calibri"/>
              </a:defRPr>
            </a:pPr>
            <a:r>
              <a:t>解析 dialogue</a:t>
            </a:r>
            <a:br/>
            <a:r>
              <a:t>+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19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371600"/>
            <a:ext cx="17373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1371600"/>
            <a:ext cx="173736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1463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C0000"/>
                </a:solidFill>
                <a:latin typeface="Calibri"/>
              </a:defRPr>
            </a:pPr>
            <a:r>
              <a:t>5. 任务校验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187451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585D"/>
                </a:solidFill>
                <a:latin typeface="Calibri"/>
              </a:defRPr>
            </a:pPr>
            <a:r>
              <a:t>validate_task</a:t>
            </a:r>
            <a:br/>
            <a:r>
              <a:t>6 项校验规则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1371600"/>
            <a:ext cx="17373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6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0" y="1371600"/>
            <a:ext cx="1737360" cy="54864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1463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60F"/>
                </a:solidFill>
                <a:latin typeface="Calibri"/>
              </a:defRPr>
            </a:pPr>
            <a:r>
              <a:t>6. 写入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187451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585D"/>
                </a:solidFill>
                <a:latin typeface="Calibri"/>
              </a:defRPr>
            </a:pPr>
            <a:r>
              <a:t>校验通过后</a:t>
            </a:r>
            <a:br/>
            <a:r>
              <a:t>写入 Tasks 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200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预获取数据源 (6 张 DynamoDB 表)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547872"/>
            <a:ext cx="914400" cy="2540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28600" y="3703320"/>
            <a:ext cx="173736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6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749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660F"/>
                </a:solidFill>
                <a:latin typeface="Calibri"/>
              </a:defRPr>
            </a:pPr>
            <a:r>
              <a:t>Players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玩家状态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94560" y="3703320"/>
            <a:ext cx="173736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6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40280" y="3749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660F"/>
                </a:solidFill>
                <a:latin typeface="Calibri"/>
              </a:defRPr>
            </a:pPr>
            <a:r>
              <a:t>PlayerEvent</a:t>
            </a:r>
            <a:br/>
            <a:r>
              <a:t>Summary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最近 20 条</a:t>
            </a:r>
            <a:br/>
            <a:r>
              <a:t>行为日志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3703320"/>
            <a:ext cx="173736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6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3749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660F"/>
                </a:solidFill>
                <a:latin typeface="Calibri"/>
              </a:defRPr>
            </a:pPr>
            <a:r>
              <a:t>Monsters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怪物字典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79" y="3703320"/>
            <a:ext cx="173736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6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199" y="3749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660F"/>
                </a:solidFill>
                <a:latin typeface="Calibri"/>
              </a:defRPr>
            </a:pPr>
            <a:r>
              <a:t>Items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199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道具字典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3703320"/>
            <a:ext cx="173736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6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3749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660F"/>
                </a:solidFill>
                <a:latin typeface="Calibri"/>
              </a:defRPr>
            </a:pPr>
            <a:r>
              <a:t>NPCs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NPC 字典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58400" y="3703320"/>
            <a:ext cx="173736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6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04120" y="3749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660F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0412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已有任务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任务校验规则 (validate_task)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148072"/>
            <a:ext cx="914400" cy="25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2578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54585D"/>
                </a:solidFill>
                <a:latin typeface="Calibri"/>
              </a:defRPr>
            </a:pPr>
            <a:r>
              <a:t>•  JSON 结构完整性 (title / description / conditions / awards)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54585D"/>
                </a:solidFill>
                <a:latin typeface="Calibri"/>
              </a:defRPr>
            </a:pPr>
            <a:r>
              <a:t>•  条件类型合法性 (kill_monster / collect_item / talk_to_npc / use_item)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54585D"/>
                </a:solidFill>
                <a:latin typeface="Calibri"/>
              </a:defRPr>
            </a:pPr>
            <a:r>
              <a:t>•  target_id 在字典表中存在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54585D"/>
                </a:solidFill>
                <a:latin typeface="Calibri"/>
              </a:defRPr>
            </a:pPr>
            <a:r>
              <a:t>•  奖励 item_id 在字典表中存在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54585D"/>
                </a:solidFill>
                <a:latin typeface="Calibri"/>
              </a:defRPr>
            </a:pPr>
            <a:r>
              <a:t>•  数值范围校验 (金币 1-1000, 经验 1-500)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54585D"/>
                </a:solidFill>
                <a:latin typeface="Calibri"/>
              </a:defRPr>
            </a:pPr>
            <a:r>
              <a:t>•  任务去重 (不与进行中任务重复)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4800600"/>
            <a:ext cx="5029200" cy="1828800"/>
          </a:xfrm>
          <a:prstGeom prst="roundRect">
            <a:avLst/>
          </a:prstGeom>
          <a:solidFill>
            <a:srgbClr val="FDF0D5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C7E11"/>
                </a:solidFill>
                <a:latin typeface="Calibri"/>
              </a:defRPr>
            </a:pPr>
            <a:r>
              <a:t>性能特征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5148072"/>
            <a:ext cx="731520" cy="25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0" y="52578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数据预获取:  ~200ms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LLM 推理 (Claude 3.5 Haiku):  ~3.5s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校验 + 写入:  ~100ms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4585D"/>
                </a:solidFill>
                <a:latin typeface="Calibri"/>
              </a:defRPr>
            </a:pPr>
            <a:r>
              <a:t>•  总耗时:  ~4 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32F3E"/>
                </a:solidFill>
                <a:latin typeface="Calibri"/>
              </a:defRPr>
            </a:pPr>
            <a:r>
              <a:t>行为日志采集与供给时序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3716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4585D"/>
                </a:solidFill>
                <a:latin typeface="Calibri"/>
              </a:defRPr>
            </a:pPr>
            <a:r>
              <a:t>Design 文档 5.2.1 节 — 行为日志驱动的动态任务生成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1463040" cy="4572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玩家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1737360"/>
            <a:ext cx="12700" cy="4572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03120" y="1280160"/>
            <a:ext cx="1463040" cy="45720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28016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游戏服务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1737360"/>
            <a:ext cx="12700" cy="4572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1280160"/>
            <a:ext cx="1463040" cy="4572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28016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Kinesis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28032" y="1737360"/>
            <a:ext cx="12700" cy="4572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0720" y="1280160"/>
            <a:ext cx="1463040" cy="457200"/>
          </a:xfrm>
          <a:prstGeom prst="round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28016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3952" y="1737360"/>
            <a:ext cx="12700" cy="4572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0" y="1280160"/>
            <a:ext cx="1463040" cy="45720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28016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DynamoDB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02752" y="1737360"/>
            <a:ext cx="12700" cy="4572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1280160"/>
            <a:ext cx="1463040" cy="457200"/>
          </a:xfrm>
          <a:prstGeom prst="roundRect">
            <a:avLst/>
          </a:prstGeom>
          <a:solidFill>
            <a:srgbClr val="EC7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28016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NPC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14432" y="1737360"/>
            <a:ext cx="12700" cy="4572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1847088"/>
            <a:ext cx="1828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F3E"/>
                </a:solidFill>
                <a:latin typeface="Calibri"/>
              </a:defRPr>
            </a:pPr>
            <a:r>
              <a:t>1. 玩家行为 (战斗/道具/...)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2048256"/>
            <a:ext cx="1828799" cy="1905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39" y="2395727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9900"/>
                </a:solidFill>
                <a:latin typeface="Calibri"/>
              </a:defRPr>
            </a:pPr>
            <a:r>
              <a:t>2. 发送完整事件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39" y="2596896"/>
            <a:ext cx="201168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852927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B660F"/>
                </a:solidFill>
                <a:latin typeface="Calibri"/>
              </a:defRPr>
            </a:pPr>
            <a:r>
              <a:t>3. Firehose 持久化全量日志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054096"/>
            <a:ext cx="1645919" cy="1905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39" y="3310127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3BB"/>
                </a:solidFill>
                <a:latin typeface="Calibri"/>
              </a:defRPr>
            </a:pPr>
            <a:r>
              <a:t>4. 写入最近事件摘要 (保留50条)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39" y="3511296"/>
            <a:ext cx="5486400" cy="1905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950208"/>
            <a:ext cx="1828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F3E"/>
                </a:solidFill>
                <a:latin typeface="Calibri"/>
              </a:defRPr>
            </a:pPr>
            <a:r>
              <a:t>5. 接近 NPC, 触发对话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4151376"/>
            <a:ext cx="1828799" cy="1905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39" y="4407408"/>
            <a:ext cx="7498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7E11"/>
                </a:solidFill>
                <a:latin typeface="Calibri"/>
              </a:defRPr>
            </a:pPr>
            <a:r>
              <a:t>6. InvokeAgentRuntime (player_id, npc_id)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39" y="4608576"/>
            <a:ext cx="7498079" cy="19050"/>
          </a:xfrm>
          <a:prstGeom prst="rect">
            <a:avLst/>
          </a:prstGeom>
          <a:solidFill>
            <a:srgbClr val="EC7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864608"/>
            <a:ext cx="2011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3BB"/>
                </a:solidFill>
                <a:latin typeface="Calibri"/>
              </a:defRPr>
            </a:pPr>
            <a:r>
              <a:t>7. get_player_events(limit=20)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5065776"/>
            <a:ext cx="2011679" cy="1905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5321808"/>
            <a:ext cx="2011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7E11"/>
                </a:solidFill>
                <a:latin typeface="Calibri"/>
              </a:defRPr>
            </a:pPr>
            <a:r>
              <a:t>8. 返回最近 20 条行为日志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5522976"/>
            <a:ext cx="2011679" cy="19050"/>
          </a:xfrm>
          <a:prstGeom prst="rect">
            <a:avLst/>
          </a:prstGeom>
          <a:solidFill>
            <a:srgbClr val="EC7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99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Demo 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4585D"/>
                </a:solidFill>
                <a:latin typeface="Calibri"/>
              </a:defRPr>
            </a:pPr>
            <a:r>
              <a:t>智能 NPC 实机演示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286000" cy="25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Demo 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9900"/>
                </a:solidFill>
                <a:latin typeface="Calibri"/>
              </a:defRPr>
            </a:pPr>
            <a:r>
              <a:t>智能 NPC 实机演示视频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114800"/>
            <a:ext cx="6675120" cy="548640"/>
          </a:xfrm>
          <a:prstGeom prst="roundRect">
            <a:avLst/>
          </a:prstGeom>
          <a:noFill/>
          <a:ln w="19050">
            <a:solidFill>
              <a:srgbClr val="545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114800"/>
            <a:ext cx="6675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54585D"/>
                </a:solidFill>
                <a:latin typeface="Calibri"/>
              </a:defRPr>
            </a:pPr>
            <a:r>
              <a:t>[ 请在此处插入 Demo 视频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99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价格分析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4585D"/>
                </a:solidFill>
                <a:latin typeface="Calibri"/>
              </a:defRPr>
            </a:pPr>
            <a:r>
              <a:t>AgentCore &amp; Bedrock 按月成本估算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286000" cy="25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32F3E"/>
                </a:solidFill>
                <a:latin typeface="Calibri"/>
              </a:defRPr>
            </a:pPr>
            <a:r>
              <a:t>价格分析 — 月度成本估算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3716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4585D"/>
                </a:solidFill>
                <a:latin typeface="Calibri"/>
              </a:defRPr>
            </a:pPr>
            <a:r>
              <a:t>以下估算基于 Demo 使用场景 (约 1000 次 NPC 对话/月)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Amazon Bedrock AgentCore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计费模型:  按 Agent 运行时间 (容器实例) 计费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Runtime 实例 (arm64, 0.5 vCPU + 1GB):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    ~$0.01 / 小时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72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    月度 (24x7):  ~$7.20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4553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Endpoint 请求费:  可忽略不计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8386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7E11"/>
                </a:solidFill>
                <a:latin typeface="Calibri"/>
              </a:defRPr>
            </a:pPr>
            <a:r>
              <a:t>AgentCore 月度估算:  ~$7 - $15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3035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89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Amazon Bedrock (Claude 3.5 Haiku)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计费模型:  按输入/输出 Token 计费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500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Claude 3.5 Haiku 定价: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786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    输入:  $0.80 / 百万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072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    输出:  $4.00 / 百万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4553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Demo 场景 (1000 次对话/月):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7413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    月输入 ~200 万 Token =  $1.60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0273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    月输出 ~50 万 Token  =  $2.00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4106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BB"/>
                </a:solidFill>
                <a:latin typeface="Calibri"/>
              </a:defRPr>
            </a:pPr>
            <a:r>
              <a:t>Bedrock 月度估算:  ~$3.60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94960"/>
            <a:ext cx="11064240" cy="1188720"/>
          </a:xfrm>
          <a:prstGeom prst="roundRect">
            <a:avLst/>
          </a:prstGeom>
          <a:solidFill>
            <a:srgbClr val="FDF0D5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7E11"/>
                </a:solidFill>
                <a:latin typeface="Calibri"/>
              </a:defRPr>
            </a:pPr>
            <a:r>
              <a:t>月度总成本估算 (Demo 场景)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06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4585D"/>
                </a:solidFill>
                <a:latin typeface="Calibri"/>
              </a:defRPr>
            </a:pPr>
            <a:r>
              <a:t>AgentCore: ~$7-15   |   Bedrock: ~$3.60   |   DynamoDB (按需): ~$1-5   |   其他 (EC2, VPC): 按现有基础设施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26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7E11"/>
                </a:solidFill>
                <a:latin typeface="Calibri"/>
              </a:defRPr>
            </a:pPr>
            <a:r>
              <a:t>AI 模块月度总成本 (AgentCore + Bedrock):  约 $10 - $20  ——  成本极低，适合 Demo 及中小规模生产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990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方案总结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4585D"/>
                </a:solidFill>
                <a:latin typeface="Calibri"/>
              </a:defRPr>
            </a:pPr>
            <a:r>
              <a:t>方案优势对比与正式生产架构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286000" cy="25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32F3E"/>
                </a:solidFill>
                <a:latin typeface="Calibri"/>
              </a:defRPr>
            </a:pPr>
            <a:r>
              <a:t>方案总结 — 优势对比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3716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对比维度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188720"/>
            <a:ext cx="3840480" cy="4572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传统方式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120640" cy="4572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188720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智能 NPC 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1828800" cy="475488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1645920"/>
            <a:ext cx="3840480" cy="475488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5120640" cy="475488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19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F3E"/>
                </a:solidFill>
                <a:latin typeface="Calibri"/>
              </a:defRPr>
            </a:pPr>
            <a:r>
              <a:t>NPC 对话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719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0000"/>
                </a:solidFill>
                <a:latin typeface="Calibri"/>
              </a:defRPr>
            </a:pPr>
            <a:r>
              <a:t>固定脚本，千篇一律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190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660F"/>
                </a:solidFill>
                <a:latin typeface="Calibri"/>
              </a:defRPr>
            </a:pPr>
            <a:r>
              <a:t>LLM 动态生成，自然且个性化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48840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2148840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148840"/>
            <a:ext cx="51206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21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F3E"/>
                </a:solidFill>
                <a:latin typeface="Calibri"/>
              </a:defRPr>
            </a:pPr>
            <a:r>
              <a:t>任务生成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221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0000"/>
                </a:solidFill>
                <a:latin typeface="Calibri"/>
              </a:defRPr>
            </a:pPr>
            <a:r>
              <a:t>策划手动设计和录入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221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660F"/>
                </a:solidFill>
                <a:latin typeface="Calibri"/>
              </a:defRPr>
            </a:pPr>
            <a:r>
              <a:t>AI 根据玩家行为自动生成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51760"/>
            <a:ext cx="1828800" cy="475488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2651760"/>
            <a:ext cx="3840480" cy="475488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651760"/>
            <a:ext cx="5120640" cy="475488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7249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F3E"/>
                </a:solidFill>
                <a:latin typeface="Calibri"/>
              </a:defRPr>
            </a:pPr>
            <a:r>
              <a:t>内容更新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2724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0000"/>
                </a:solidFill>
                <a:latin typeface="Calibri"/>
              </a:defRPr>
            </a:pPr>
            <a:r>
              <a:t>需要发版更新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249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660F"/>
                </a:solidFill>
                <a:latin typeface="Calibri"/>
              </a:defRPr>
            </a:pPr>
            <a:r>
              <a:t>实时动态调整，无需发版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54680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0" y="3154680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154680"/>
            <a:ext cx="51206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278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F3E"/>
                </a:solidFill>
                <a:latin typeface="Calibri"/>
              </a:defRPr>
            </a:pPr>
            <a:r>
              <a:t>玩家体验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3227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0000"/>
                </a:solidFill>
                <a:latin typeface="Calibri"/>
              </a:defRPr>
            </a:pPr>
            <a:r>
              <a:t>缺乏沉浸感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2278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660F"/>
                </a:solidFill>
                <a:latin typeface="Calibri"/>
              </a:defRPr>
            </a:pPr>
            <a:r>
              <a:t>个性化体验，NPC 理解玩家处境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657600"/>
            <a:ext cx="1828800" cy="475488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3657600"/>
            <a:ext cx="3840480" cy="475488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3657600"/>
            <a:ext cx="5120640" cy="475488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730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F3E"/>
                </a:solidFill>
                <a:latin typeface="Calibri"/>
              </a:defRPr>
            </a:pPr>
            <a:r>
              <a:t>开发成本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3730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0000"/>
                </a:solidFill>
                <a:latin typeface="Calibri"/>
              </a:defRPr>
            </a:pPr>
            <a:r>
              <a:t>大量策划人力，周期长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7307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660F"/>
                </a:solidFill>
                <a:latin typeface="Calibri"/>
              </a:defRPr>
            </a:pPr>
            <a:r>
              <a:t>一次开发，AI 持续生成内容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160520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0" y="4160520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160520"/>
            <a:ext cx="51206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2336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F3E"/>
                </a:solidFill>
                <a:latin typeface="Calibri"/>
              </a:defRPr>
            </a:pPr>
            <a:r>
              <a:t>可扩展性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4233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0000"/>
                </a:solidFill>
                <a:latin typeface="Calibri"/>
              </a:defRPr>
            </a:pPr>
            <a:r>
              <a:t>内容量与人力成正比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2336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660F"/>
                </a:solidFill>
                <a:latin typeface="Calibri"/>
              </a:defRPr>
            </a:pPr>
            <a:r>
              <a:t>AI 无限生成，边际成本趋零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663440"/>
            <a:ext cx="1828800" cy="475488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0" y="4663440"/>
            <a:ext cx="3840480" cy="475488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26480" y="4663440"/>
            <a:ext cx="5120640" cy="475488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36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F3E"/>
                </a:solidFill>
                <a:latin typeface="Calibri"/>
              </a:defRPr>
            </a:pPr>
            <a:r>
              <a:t>数据驱动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4736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0000"/>
                </a:solidFill>
                <a:latin typeface="Calibri"/>
              </a:defRPr>
            </a:pPr>
            <a:r>
              <a:t>无法利用玩家行为数据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7365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660F"/>
                </a:solidFill>
                <a:latin typeface="Calibri"/>
              </a:defRPr>
            </a:pPr>
            <a:r>
              <a:t>行为日志驱动决策，持续优化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166360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86000" y="5166360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26480" y="5166360"/>
            <a:ext cx="51206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239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F3E"/>
                </a:solidFill>
                <a:latin typeface="Calibri"/>
              </a:defRPr>
            </a:pPr>
            <a:r>
              <a:t>运营成本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77440" y="52395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0000"/>
                </a:solidFill>
                <a:latin typeface="Calibri"/>
              </a:defRPr>
            </a:pPr>
            <a:r>
              <a:t>高 (人力为主)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52395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660F"/>
                </a:solidFill>
                <a:latin typeface="Calibri"/>
              </a:defRPr>
            </a:pPr>
            <a:r>
              <a:t>极低 (~$10-20/月 AI 服务费)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32F3E"/>
                </a:solidFill>
                <a:latin typeface="Calibri"/>
              </a:defRPr>
            </a:pPr>
            <a:r>
              <a:t>正式生产架构（目标）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3716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4585D"/>
                </a:solidFill>
                <a:latin typeface="Calibri"/>
              </a:defRPr>
            </a:pPr>
            <a:r>
              <a:t>详细架构图请参见 architecture.drawio — Page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188720" cy="54864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4585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828800"/>
            <a:ext cx="1371600" cy="548640"/>
          </a:xfrm>
          <a:prstGeom prst="round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CloudFront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688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4585D"/>
                </a:solidFill>
                <a:latin typeface="Calibri"/>
              </a:defRPr>
            </a:pPr>
            <a:r>
              <a:t>↓ 静态资源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697480"/>
            <a:ext cx="1371600" cy="457200"/>
          </a:xfrm>
          <a:prstGeom prst="round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69748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S3 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4585D"/>
                </a:solidFill>
                <a:latin typeface="Calibri"/>
              </a:defRPr>
            </a:pPr>
            <a:r>
              <a:t>/api /ws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371600"/>
            <a:ext cx="3931920" cy="4114800"/>
          </a:xfrm>
          <a:prstGeom prst="roundRect">
            <a:avLst/>
          </a:prstGeom>
          <a:noFill/>
          <a:ln w="254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1417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3BB"/>
                </a:solidFill>
                <a:latin typeface="Calibri"/>
              </a:defRPr>
            </a:pPr>
            <a:r>
              <a:t>VPC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1737360"/>
            <a:ext cx="1371600" cy="502920"/>
          </a:xfrm>
          <a:prstGeom prst="round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173736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2468880"/>
            <a:ext cx="3474720" cy="2743200"/>
          </a:xfrm>
          <a:prstGeom prst="roundRect">
            <a:avLst/>
          </a:prstGeom>
          <a:solidFill>
            <a:srgbClr val="E1F0FA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2514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3BB"/>
                </a:solidFill>
                <a:latin typeface="Calibri"/>
              </a:defRPr>
            </a:pPr>
            <a:r>
              <a:t>EC2 (私有子网)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8346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4585D"/>
                </a:solidFill>
                <a:latin typeface="Calibri"/>
              </a:defRPr>
            </a:pPr>
            <a:r>
              <a:t>• REST API / WebSocket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54585D"/>
                </a:solidFill>
                <a:latin typeface="Calibri"/>
              </a:defRPr>
            </a:pPr>
            <a:r>
              <a:t>• 战斗系统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54585D"/>
                </a:solidFill>
                <a:latin typeface="Calibri"/>
              </a:defRPr>
            </a:pPr>
            <a:r>
              <a:t>• 任务管理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54585D"/>
                </a:solidFill>
                <a:latin typeface="Calibri"/>
              </a:defRPr>
            </a:pPr>
            <a:r>
              <a:t>• 事件发射器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371600"/>
            <a:ext cx="3200400" cy="2103120"/>
          </a:xfrm>
          <a:prstGeom prst="roundRect">
            <a:avLst/>
          </a:prstGeom>
          <a:solidFill>
            <a:srgbClr val="FDF0D5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417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7E11"/>
                </a:solidFill>
                <a:latin typeface="Calibri"/>
              </a:defRPr>
            </a:pPr>
            <a:r>
              <a:t>AI 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7373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4585D"/>
                </a:solidFill>
                <a:latin typeface="Calibri"/>
              </a:defRPr>
            </a:pPr>
            <a:r>
              <a:t>• AgentCore Runtime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54585D"/>
                </a:solidFill>
                <a:latin typeface="Calibri"/>
              </a:defRPr>
            </a:pPr>
            <a:r>
              <a:t>• NPC Agent (Docker)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54585D"/>
                </a:solidFill>
                <a:latin typeface="Calibri"/>
              </a:defRPr>
            </a:pPr>
            <a:r>
              <a:t>• Bedrock Claude 3.5 Haiku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7E11"/>
                </a:solidFill>
                <a:latin typeface="Calibri"/>
              </a:defRPr>
            </a:pPr>
            <a:r>
              <a:t>NPC→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749039"/>
            <a:ext cx="3200400" cy="1371600"/>
          </a:xfrm>
          <a:prstGeom prst="roundRect">
            <a:avLst/>
          </a:prstGeom>
          <a:solidFill>
            <a:srgbClr val="FDF0D5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7947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7E11"/>
                </a:solidFill>
                <a:latin typeface="Calibri"/>
              </a:defRPr>
            </a:pPr>
            <a:r>
              <a:t>数据流管道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148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4585D"/>
                </a:solidFill>
                <a:latin typeface="Calibri"/>
              </a:defRPr>
            </a:pPr>
            <a:r>
              <a:t>• Kinesis Data Stream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54585D"/>
                </a:solidFill>
                <a:latin typeface="Calibri"/>
              </a:defRPr>
            </a:pPr>
            <a:r>
              <a:t>• Kinesis Firehose → 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114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7E11"/>
                </a:solidFill>
                <a:latin typeface="Calibri"/>
              </a:defRPr>
            </a:pPr>
            <a:r>
              <a:t>事件→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5669280"/>
            <a:ext cx="3200400" cy="6400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6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566928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B660F"/>
                </a:solidFill>
                <a:latin typeface="Calibri"/>
              </a:defRPr>
            </a:pPr>
            <a:r>
              <a:t>DynamoDB (6 tables)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5669280"/>
            <a:ext cx="3200400" cy="6400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6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566928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B660F"/>
                </a:solidFill>
                <a:latin typeface="Calibri"/>
              </a:defRPr>
            </a:pPr>
            <a:r>
              <a:t>S3 行为日志归档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303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B660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212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B660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9900"/>
                </a:solidFill>
                <a:latin typeface="Calibri"/>
              </a:defRPr>
            </a:pPr>
            <a:r>
              <a:t>Amazon Web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4585D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